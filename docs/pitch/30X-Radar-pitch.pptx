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32d6c771-7aed-629e-3790-dacb2a5bb5cd}">
          <p14:sldIdLst>
            <p14:sldId id="256"/>
          </p14:sldIdLst>
        </p14:section>
        <p14:section name="Impacto en el reto" id="{aed76ffc-2322-bf62-1055-1ee3a079be49}">
          <p14:sldIdLst>
            <p14:sldId id="257"/>
            <p14:sldId id="258"/>
            <p14:sldId id="259"/>
          </p14:sldIdLst>
        </p14:section>
        <p14:section name="Innovación" id="{5ca89ac0-8f6d-6cb4-9af3-39d86c952780}">
          <p14:sldIdLst>
            <p14:sldId id="260"/>
          </p14:sldIdLst>
        </p14:section>
        <p14:section name="Viabilidad" id="{02cd3388-f853-1750-be54-c11c50a8f76a}">
          <p14:sldIdLst>
            <p14:sldId id="261"/>
            <p14:sldId id="262"/>
          </p14:sldIdLst>
        </p14:section>
        <p14:section name="Cierre" id="{73f71bc1-7348-4685-1dc6-32dbdb7d0cd3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≈15 s. Presentarse en una frase. "Construimos el radar de tendencias que pidió el reto: qué está creciendo, por qué funciona, si le sirve a la audiencia de 30X y el guion listo para grabar".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≈30 s. "Hoy 30X paga miles de dólares al año en scraping que solo trae datos. No dice por qué algo funcionó, si es una tendencia que empieza o que todos copiaron, ni si le sirve a su audiencia. Respondemos las tres preguntas, con fuentes abiertas y legales."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≈60 s · DEMO EN VIVO aquí si hay tiempo. Mostrar el radar de LinkedIn ya cargado. "El título dice 7 porque solo 7 temas tienen evidencia suficiente: no rellenamos para llegar a 10." Leer la nota de cobertura: los buscadores tardan días en indexar LinkedIn, así que medimos la última semana que el índice ya cubre. Señalar crecimiento, etapa y JEV del tema #1.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≈45 s. Abrir el tema #1. Gancho: "Where small businesses actually save time with AI (not the hype version)", desmitificación pragmática. Mérito del contenido, no del autor. Reel: "La IA útil para pymes es aburrida, no futurista." Clic en Enviar a Slack: ya está en el flujo del equipo.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≈50 s. "Usamos la IA con intención: lo que es número lo calcula el código; la IA interpreta y escribe." Abrir el ? del JEV en la app si se está en demo. Mencionar la fecha decodificada del ID, la semana anclada al índice y la detección bilingüe. Comunidad como sensor: el equipo pega un enlace y recibe la misma autopsia.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≈35 s. Mostrar el Sensor en vivo con el enlace preparado (2 solicitudes). "Lo probamos con datos reales: más de 400 piezas en 4 redes. npm run check corre tipos, la prueba de humo y el build; las migraciones se validaron en PostgreSQL real."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≈45 s. Costo: en el uso previsto cabe en los planes gratuitos. Legal y sin datos personales: auditado durante el desarrollo. Plug &amp; Play con Slack, Notion y Make. Cambiar de perfil en la cabecera (Fintech Andina): "hecho para 30X, útil para cualquier marca", como dice el propio planteamiento del reto.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≈20 s. Cerrar con la frase. Abrir a preguntas: las respuestas preparadas están en docs/DEMO.md (qué es el JEV, legalidad, privacidad, costo, límites).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4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31720"/>
            <a:ext cx="52120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2EEE7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14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813816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2EEE7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14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9154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2EEE7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555480" y="566928"/>
            <a:ext cx="208483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E5A93C"/>
                </a:solidFill>
              </a:defRPr>
            </a:lvl1pPr>
          </a:lstStyle>
          <a:p>
            <a:pPr algn="r"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49A"/>
                </a:solidFill>
              </a:rPr>
              <a:t>30X · Radar de tendencias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A4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A4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vento"/>
          <p:cNvSpPr txBox="1"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49A"/>
                </a:solidFill>
              </a:rPr>
              <a:t>Hackathon 30X · Reto de Media</a:t>
            </a:r>
            <a:endParaRPr lang="en-US" sz="1400" dirty="0"/>
          </a:p>
        </p:txBody>
      </p:sp>
      <p:sp>
        <p:nvSpPr>
          <p:cNvPr id="3" name="logo radar fondo"/>
          <p:cNvSpPr/>
          <p:nvPr/>
        </p:nvSpPr>
        <p:spPr>
          <a:xfrm>
            <a:off x="548640" y="1508760"/>
            <a:ext cx="685800" cy="685800"/>
          </a:xfrm>
          <a:prstGeom prst="ellipse">
            <a:avLst/>
          </a:prstGeom>
          <a:solidFill>
            <a:srgbClr val="2B2416"/>
          </a:solidFill>
          <a:ln w="12700">
            <a:solidFill>
              <a:srgbClr val="2B2416"/>
            </a:solidFill>
            <a:prstDash val="solid"/>
          </a:ln>
        </p:spPr>
      </p:sp>
      <p:pic>
        <p:nvPicPr>
          <p:cNvPr id="4" name="logo radar" descr="C:\Users\ESTUDIANTE\AppData\Local\Temp\claude\C--Users-ESTUDIANTE-Desktop-EV\43d91faa-828a-4caa-b1cf-f4c72999dfed\scratchpad\pitch\assets\icon-ra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659636"/>
            <a:ext cx="384048" cy="384048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233172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2EEE7"/>
                </a:solidFill>
              </a:rPr>
              <a:t>30X Radar de tendencias</a:t>
            </a:r>
            <a:endParaRPr lang="en-US" sz="4600" dirty="0"/>
          </a:p>
        </p:txBody>
      </p:sp>
      <p:sp>
        <p:nvSpPr>
          <p:cNvPr id="6" name="subtítulo"/>
          <p:cNvSpPr txBox="1"/>
          <p:nvPr/>
        </p:nvSpPr>
        <p:spPr>
          <a:xfrm>
            <a:off x="548640" y="416052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AA49A"/>
                </a:solidFill>
              </a:rPr>
              <a:t>Qué temas crecen esta semana en LinkedIn, Instagram, TikTok y YouTube, por qué funcionan y el guion listo para grabar.</a:t>
            </a:r>
            <a:endParaRPr lang="en-US" sz="1800" dirty="0"/>
          </a:p>
        </p:txBody>
      </p:sp>
      <p:pic>
        <p:nvPicPr>
          <p:cNvPr id="7" name="captura del radar" descr="C:\Users\ESTUDIANTE\AppData\Local\Temp\claude\C--Users-ESTUDIANTE-Desktop-EV\43d91faa-828a-4caa-b1cf-f4c72999dfed\scratchpad\pitch\assets\h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8055" y="1653886"/>
            <a:ext cx="5715000" cy="35502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915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EEE7"/>
                </a:solidFill>
              </a:rPr>
              <a:t>30X paga por datos, no por respuestas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555480" y="56692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5A93C"/>
                </a:solidFill>
              </a:rPr>
              <a:t>Impacto en el reto</a:t>
            </a:r>
            <a:endParaRPr lang="en-US" sz="1200" dirty="0"/>
          </a:p>
        </p:txBody>
      </p:sp>
      <p:sp>
        <p:nvSpPr>
          <p:cNvPr id="4" name="cifra costo"/>
          <p:cNvSpPr txBox="1"/>
          <p:nvPr/>
        </p:nvSpPr>
        <p:spPr>
          <a:xfrm>
            <a:off x="548640" y="178308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5A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 de dólares al año</a:t>
            </a:r>
            <a:endParaRPr lang="en-US" sz="4000" dirty="0"/>
          </a:p>
        </p:txBody>
      </p:sp>
      <p:sp>
        <p:nvSpPr>
          <p:cNvPr id="5" name="costo detalle"/>
          <p:cNvSpPr txBox="1"/>
          <p:nvPr/>
        </p:nvSpPr>
        <p:spPr>
          <a:xfrm>
            <a:off x="548640" y="31089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EEE7"/>
                </a:solidFill>
              </a:rPr>
              <a:t>en servicios de scraping que solo traen datos.</a:t>
            </a:r>
            <a:endParaRPr lang="en-US" sz="1800" dirty="0"/>
          </a:p>
        </p:txBody>
      </p:sp>
      <p:sp>
        <p:nvSpPr>
          <p:cNvPr id="6" name="generalidad"/>
          <p:cNvSpPr txBox="1"/>
          <p:nvPr/>
        </p:nvSpPr>
        <p:spPr>
          <a:xfrm>
            <a:off x="548640" y="41605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AA49A"/>
                </a:solidFill>
              </a:rPr>
              <a:t>Es el mismo problema de cualquier marca, medio o creador que produce contenido cada semana.</a:t>
            </a:r>
            <a:endParaRPr lang="en-US" sz="1500" dirty="0"/>
          </a:p>
        </p:txBody>
      </p:sp>
      <p:sp>
        <p:nvSpPr>
          <p:cNvPr id="7" name="pregunta 1"/>
          <p:cNvSpPr/>
          <p:nvPr/>
        </p:nvSpPr>
        <p:spPr>
          <a:xfrm>
            <a:off x="5257800" y="1600200"/>
            <a:ext cx="6382512" cy="1243584"/>
          </a:xfrm>
          <a:prstGeom prst="roundRect">
            <a:avLst>
              <a:gd name="adj" fmla="val 10294"/>
            </a:avLst>
          </a:prstGeom>
          <a:solidFill>
            <a:srgbClr val="1D1D21"/>
          </a:solidFill>
          <a:ln w="12700">
            <a:solidFill>
              <a:srgbClr val="2E2E35"/>
            </a:solidFill>
            <a:prstDash val="solid"/>
          </a:ln>
        </p:spPr>
      </p:sp>
      <p:sp>
        <p:nvSpPr>
          <p:cNvPr id="8" name="icono pregunta 1 fondo"/>
          <p:cNvSpPr/>
          <p:nvPr/>
        </p:nvSpPr>
        <p:spPr>
          <a:xfrm>
            <a:off x="5532120" y="1938528"/>
            <a:ext cx="566928" cy="566928"/>
          </a:xfrm>
          <a:prstGeom prst="ellipse">
            <a:avLst/>
          </a:prstGeom>
          <a:solidFill>
            <a:srgbClr val="2B2416"/>
          </a:solidFill>
          <a:ln w="12700">
            <a:solidFill>
              <a:srgbClr val="2B2416"/>
            </a:solidFill>
            <a:prstDash val="solid"/>
          </a:ln>
        </p:spPr>
      </p:sp>
      <p:pic>
        <p:nvPicPr>
          <p:cNvPr id="9" name="icono pregunta 1" descr="C:\Users\ESTUDIANTE\AppData\Local\Temp\claude\C--Users-ESTUDIANTE-Desktop-EV\43d91faa-828a-4caa-b1cf-f4c72999dfed\scratchpad\pitch\assets\icon-w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6844" y="2063252"/>
            <a:ext cx="317480" cy="317480"/>
          </a:xfrm>
          <a:prstGeom prst="rect">
            <a:avLst/>
          </a:prstGeom>
        </p:spPr>
      </p:pic>
      <p:sp>
        <p:nvSpPr>
          <p:cNvPr id="10" name="pregunta 1 título"/>
          <p:cNvSpPr txBox="1"/>
          <p:nvPr/>
        </p:nvSpPr>
        <p:spPr>
          <a:xfrm>
            <a:off x="6355080" y="181965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EEE7"/>
                </a:solidFill>
              </a:rPr>
              <a:t>¿Por qué funcionó?</a:t>
            </a:r>
            <a:endParaRPr lang="en-US" sz="1900" dirty="0"/>
          </a:p>
        </p:txBody>
      </p:sp>
      <p:sp>
        <p:nvSpPr>
          <p:cNvPr id="11" name="pregunta 1 texto"/>
          <p:cNvSpPr txBox="1"/>
          <p:nvPr/>
        </p:nvSpPr>
        <p:spPr>
          <a:xfrm>
            <a:off x="6355080" y="2240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49A"/>
                </a:solidFill>
              </a:rPr>
              <a:t>Gancho, formato, tema, momento y autor: los datos no lo explican.</a:t>
            </a:r>
            <a:endParaRPr lang="en-US" sz="1400" dirty="0"/>
          </a:p>
        </p:txBody>
      </p:sp>
      <p:sp>
        <p:nvSpPr>
          <p:cNvPr id="12" name="pregunta 2"/>
          <p:cNvSpPr/>
          <p:nvPr/>
        </p:nvSpPr>
        <p:spPr>
          <a:xfrm>
            <a:off x="5257800" y="3081528"/>
            <a:ext cx="6382512" cy="1243584"/>
          </a:xfrm>
          <a:prstGeom prst="roundRect">
            <a:avLst>
              <a:gd name="adj" fmla="val 10294"/>
            </a:avLst>
          </a:prstGeom>
          <a:solidFill>
            <a:srgbClr val="1D1D21"/>
          </a:solidFill>
          <a:ln w="12700">
            <a:solidFill>
              <a:srgbClr val="2E2E35"/>
            </a:solidFill>
            <a:prstDash val="solid"/>
          </a:ln>
        </p:spPr>
      </p:sp>
      <p:sp>
        <p:nvSpPr>
          <p:cNvPr id="13" name="icono pregunta 2 fondo"/>
          <p:cNvSpPr/>
          <p:nvPr/>
        </p:nvSpPr>
        <p:spPr>
          <a:xfrm>
            <a:off x="5532120" y="3419856"/>
            <a:ext cx="566928" cy="566928"/>
          </a:xfrm>
          <a:prstGeom prst="ellipse">
            <a:avLst/>
          </a:prstGeom>
          <a:solidFill>
            <a:srgbClr val="2B2416"/>
          </a:solidFill>
          <a:ln w="12700">
            <a:solidFill>
              <a:srgbClr val="2B2416"/>
            </a:solidFill>
            <a:prstDash val="solid"/>
          </a:ln>
        </p:spPr>
      </p:sp>
      <p:pic>
        <p:nvPicPr>
          <p:cNvPr id="14" name="icono pregunta 2" descr="C:\Users\ESTUDIANTE\AppData\Local\Temp\claude\C--Users-ESTUDIANTE-Desktop-EV\43d91faa-828a-4caa-b1cf-f4c72999dfed\scratchpad\pitch\assets\icon-spro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6844" y="3544580"/>
            <a:ext cx="317480" cy="317480"/>
          </a:xfrm>
          <a:prstGeom prst="rect">
            <a:avLst/>
          </a:prstGeom>
        </p:spPr>
      </p:pic>
      <p:sp>
        <p:nvSpPr>
          <p:cNvPr id="15" name="pregunta 2 título"/>
          <p:cNvSpPr txBox="1"/>
          <p:nvPr/>
        </p:nvSpPr>
        <p:spPr>
          <a:xfrm>
            <a:off x="6355080" y="330098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EEE7"/>
                </a:solidFill>
              </a:rPr>
              <a:t>¿Empieza o ya todos la copiaron?</a:t>
            </a:r>
            <a:endParaRPr lang="en-US" sz="1900" dirty="0"/>
          </a:p>
        </p:txBody>
      </p:sp>
      <p:sp>
        <p:nvSpPr>
          <p:cNvPr id="16" name="pregunta 2 texto"/>
          <p:cNvSpPr txBox="1"/>
          <p:nvPr/>
        </p:nvSpPr>
        <p:spPr>
          <a:xfrm>
            <a:off x="6355080" y="37216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49A"/>
                </a:solidFill>
              </a:rPr>
              <a:t>Llegar tarde a una tendencia saturada no sirve.</a:t>
            </a:r>
            <a:endParaRPr lang="en-US" sz="1400" dirty="0"/>
          </a:p>
        </p:txBody>
      </p:sp>
      <p:sp>
        <p:nvSpPr>
          <p:cNvPr id="17" name="pregunta 3"/>
          <p:cNvSpPr/>
          <p:nvPr/>
        </p:nvSpPr>
        <p:spPr>
          <a:xfrm>
            <a:off x="5257800" y="4562856"/>
            <a:ext cx="6382512" cy="1243584"/>
          </a:xfrm>
          <a:prstGeom prst="roundRect">
            <a:avLst>
              <a:gd name="adj" fmla="val 10294"/>
            </a:avLst>
          </a:prstGeom>
          <a:solidFill>
            <a:srgbClr val="1D1D21"/>
          </a:solidFill>
          <a:ln w="12700">
            <a:solidFill>
              <a:srgbClr val="2E2E35"/>
            </a:solidFill>
            <a:prstDash val="solid"/>
          </a:ln>
        </p:spPr>
      </p:sp>
      <p:sp>
        <p:nvSpPr>
          <p:cNvPr id="18" name="icono pregunta 3 fondo"/>
          <p:cNvSpPr/>
          <p:nvPr/>
        </p:nvSpPr>
        <p:spPr>
          <a:xfrm>
            <a:off x="5532120" y="4901184"/>
            <a:ext cx="566928" cy="566928"/>
          </a:xfrm>
          <a:prstGeom prst="ellipse">
            <a:avLst/>
          </a:prstGeom>
          <a:solidFill>
            <a:srgbClr val="2B2416"/>
          </a:solidFill>
          <a:ln w="12700">
            <a:solidFill>
              <a:srgbClr val="2B2416"/>
            </a:solidFill>
            <a:prstDash val="solid"/>
          </a:ln>
        </p:spPr>
      </p:sp>
      <p:pic>
        <p:nvPicPr>
          <p:cNvPr id="19" name="icono pregunta 3" descr="C:\Users\ESTUDIANTE\AppData\Local\Temp\claude\C--Users-ESTUDIANTE-Desktop-EV\43d91faa-828a-4caa-b1cf-f4c72999dfed\scratchpad\pitch\assets\icon-audie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6844" y="5025908"/>
            <a:ext cx="317480" cy="317480"/>
          </a:xfrm>
          <a:prstGeom prst="rect">
            <a:avLst/>
          </a:prstGeom>
        </p:spPr>
      </p:pic>
      <p:sp>
        <p:nvSpPr>
          <p:cNvPr id="20" name="pregunta 3 título"/>
          <p:cNvSpPr txBox="1"/>
          <p:nvPr/>
        </p:nvSpPr>
        <p:spPr>
          <a:xfrm>
            <a:off x="6355080" y="478231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EEE7"/>
                </a:solidFill>
              </a:rPr>
              <a:t>¿Le sirve a nuestra audiencia?</a:t>
            </a:r>
            <a:endParaRPr lang="en-US" sz="1900" dirty="0"/>
          </a:p>
        </p:txBody>
      </p:sp>
      <p:sp>
        <p:nvSpPr>
          <p:cNvPr id="21" name="pregunta 3 texto"/>
          <p:cNvSpPr txBox="1"/>
          <p:nvPr/>
        </p:nvSpPr>
        <p:spPr>
          <a:xfrm>
            <a:off x="6355080" y="520293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49A"/>
                </a:solidFill>
              </a:rPr>
              <a:t>Ejecutivos y equipos de LatAm aprendiendo IA, no cualquier público.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A4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915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EEE7"/>
                </a:solidFill>
              </a:rPr>
              <a:t>Una pantalla responde el entregable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555480" y="56692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5A93C"/>
                </a:solidFill>
              </a:rPr>
              <a:t>Impacto en el reto</a:t>
            </a:r>
            <a:endParaRPr lang="en-US" sz="1200" dirty="0"/>
          </a:p>
        </p:txBody>
      </p:sp>
      <p:pic>
        <p:nvPicPr>
          <p:cNvPr id="4" name="captura temas de LinkedIn" descr="C:\Users\ESTUDIANTE\AppData\Local\Temp\claude\C--Users-ESTUDIANTE-Desktop-EV\43d91faa-828a-4caa-b1cf-f4c72999dfed\scratchpad\pitch\assets\lis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315200" cy="4546499"/>
          </a:xfrm>
          <a:prstGeom prst="rect">
            <a:avLst/>
          </a:prstGeom>
        </p:spPr>
      </p:pic>
      <p:sp>
        <p:nvSpPr>
          <p:cNvPr id="5" name="pregunta del entregable"/>
          <p:cNvSpPr txBox="1"/>
          <p:nvPr/>
        </p:nvSpPr>
        <p:spPr>
          <a:xfrm>
            <a:off x="8229600" y="1463040"/>
            <a:ext cx="3410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AAA49A"/>
                </a:solidFill>
              </a:rPr>
              <a:t>“¿Cuáles son los 10 temas de IA que más crecen esta semana en LinkedIn, por qué y cómo lo adaptamos?”</a:t>
            </a:r>
            <a:endParaRPr lang="en-US" sz="1400" dirty="0"/>
          </a:p>
        </p:txBody>
      </p:sp>
      <p:sp>
        <p:nvSpPr>
          <p:cNvPr id="6" name="icono Crecimiento medido fondo"/>
          <p:cNvSpPr/>
          <p:nvPr/>
        </p:nvSpPr>
        <p:spPr>
          <a:xfrm>
            <a:off x="8229600" y="2788920"/>
            <a:ext cx="502920" cy="502920"/>
          </a:xfrm>
          <a:prstGeom prst="ellipse">
            <a:avLst/>
          </a:prstGeom>
          <a:solidFill>
            <a:srgbClr val="2B2416"/>
          </a:solidFill>
          <a:ln w="12700">
            <a:solidFill>
              <a:srgbClr val="2B2416"/>
            </a:solidFill>
            <a:prstDash val="solid"/>
          </a:ln>
        </p:spPr>
      </p:sp>
      <p:pic>
        <p:nvPicPr>
          <p:cNvPr id="7" name="icono Crecimiento medido" descr="C:\Users\ESTUDIANTE\AppData\Local\Temp\claude\C--Users-ESTUDIANTE-Desktop-EV\43d91faa-828a-4caa-b1cf-f4c72999dfed\scratchpad\pitch\assets\icon-calend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0242" y="2899562"/>
            <a:ext cx="281635" cy="281635"/>
          </a:xfrm>
          <a:prstGeom prst="rect">
            <a:avLst/>
          </a:prstGeom>
        </p:spPr>
      </p:pic>
      <p:sp>
        <p:nvSpPr>
          <p:cNvPr id="8" name="Crecimiento medido título"/>
          <p:cNvSpPr txBox="1"/>
          <p:nvPr/>
        </p:nvSpPr>
        <p:spPr>
          <a:xfrm>
            <a:off x="8915400" y="2770632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EEE7"/>
                </a:solidFill>
              </a:rPr>
              <a:t>Crecimiento medido</a:t>
            </a:r>
            <a:endParaRPr lang="en-US" sz="1600" dirty="0"/>
          </a:p>
        </p:txBody>
      </p:sp>
      <p:sp>
        <p:nvSpPr>
          <p:cNvPr id="9" name="Crecimiento medido texto"/>
          <p:cNvSpPr txBox="1"/>
          <p:nvPr/>
        </p:nvSpPr>
        <p:spPr>
          <a:xfrm>
            <a:off x="8915400" y="3118104"/>
            <a:ext cx="2724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A49A"/>
                </a:solidFill>
              </a:rPr>
              <a:t>Piezas de esta semana frente a la anterior, por tema.</a:t>
            </a:r>
            <a:endParaRPr lang="en-US" sz="1300" dirty="0"/>
          </a:p>
        </p:txBody>
      </p:sp>
      <p:sp>
        <p:nvSpPr>
          <p:cNvPr id="10" name="icono Etapa del tema fondo"/>
          <p:cNvSpPr/>
          <p:nvPr/>
        </p:nvSpPr>
        <p:spPr>
          <a:xfrm>
            <a:off x="8229600" y="3867912"/>
            <a:ext cx="502920" cy="502920"/>
          </a:xfrm>
          <a:prstGeom prst="ellipse">
            <a:avLst/>
          </a:prstGeom>
          <a:solidFill>
            <a:srgbClr val="2B2416"/>
          </a:solidFill>
          <a:ln w="12700">
            <a:solidFill>
              <a:srgbClr val="2B2416"/>
            </a:solidFill>
            <a:prstDash val="solid"/>
          </a:ln>
        </p:spPr>
      </p:sp>
      <p:pic>
        <p:nvPicPr>
          <p:cNvPr id="11" name="icono Etapa del tema" descr="C:\Users\ESTUDIANTE\AppData\Local\Temp\claude\C--Users-ESTUDIANTE-Desktop-EV\43d91faa-828a-4caa-b1cf-f4c72999dfed\scratchpad\pitch\assets\icon-sprou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0242" y="3978554"/>
            <a:ext cx="281635" cy="281635"/>
          </a:xfrm>
          <a:prstGeom prst="rect">
            <a:avLst/>
          </a:prstGeom>
        </p:spPr>
      </p:pic>
      <p:sp>
        <p:nvSpPr>
          <p:cNvPr id="12" name="Etapa del tema título"/>
          <p:cNvSpPr txBox="1"/>
          <p:nvPr/>
        </p:nvSpPr>
        <p:spPr>
          <a:xfrm>
            <a:off x="8915400" y="3849624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EEE7"/>
                </a:solidFill>
              </a:rPr>
              <a:t>Etapa del tema</a:t>
            </a:r>
            <a:endParaRPr lang="en-US" sz="1600" dirty="0"/>
          </a:p>
        </p:txBody>
      </p:sp>
      <p:sp>
        <p:nvSpPr>
          <p:cNvPr id="13" name="Etapa del tema texto"/>
          <p:cNvSpPr txBox="1"/>
          <p:nvPr/>
        </p:nvSpPr>
        <p:spPr>
          <a:xfrm>
            <a:off x="8915400" y="4197096"/>
            <a:ext cx="2724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A49A"/>
                </a:solidFill>
              </a:rPr>
              <a:t>Emergente, despegando o saturada: cuándo entrar.</a:t>
            </a:r>
            <a:endParaRPr lang="en-US" sz="1300" dirty="0"/>
          </a:p>
        </p:txBody>
      </p:sp>
      <p:sp>
        <p:nvSpPr>
          <p:cNvPr id="14" name="icono Score JEV 0-100 fondo"/>
          <p:cNvSpPr/>
          <p:nvPr/>
        </p:nvSpPr>
        <p:spPr>
          <a:xfrm>
            <a:off x="8229600" y="4946904"/>
            <a:ext cx="502920" cy="502920"/>
          </a:xfrm>
          <a:prstGeom prst="ellipse">
            <a:avLst/>
          </a:prstGeom>
          <a:solidFill>
            <a:srgbClr val="2B2416"/>
          </a:solidFill>
          <a:ln w="12700">
            <a:solidFill>
              <a:srgbClr val="2B2416"/>
            </a:solidFill>
            <a:prstDash val="solid"/>
          </a:ln>
        </p:spPr>
      </p:sp>
      <p:pic>
        <p:nvPicPr>
          <p:cNvPr id="15" name="icono Score JEV 0-100" descr="C:\Users\ESTUDIANTE\AppData\Local\Temp\claude\C--Users-ESTUDIANTE-Desktop-EV\43d91faa-828a-4caa-b1cf-f4c72999dfed\scratchpad\pitch\assets\icon-audien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0242" y="5057546"/>
            <a:ext cx="281635" cy="281635"/>
          </a:xfrm>
          <a:prstGeom prst="rect">
            <a:avLst/>
          </a:prstGeom>
        </p:spPr>
      </p:pic>
      <p:sp>
        <p:nvSpPr>
          <p:cNvPr id="16" name="Score JEV 0-100 título"/>
          <p:cNvSpPr txBox="1"/>
          <p:nvPr/>
        </p:nvSpPr>
        <p:spPr>
          <a:xfrm>
            <a:off x="8915400" y="4928616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EEE7"/>
                </a:solidFill>
              </a:rPr>
              <a:t>Score JEV 0-100</a:t>
            </a:r>
            <a:endParaRPr lang="en-US" sz="1600" dirty="0"/>
          </a:p>
        </p:txBody>
      </p:sp>
      <p:sp>
        <p:nvSpPr>
          <p:cNvPr id="17" name="Score JEV 0-100 texto"/>
          <p:cNvSpPr txBox="1"/>
          <p:nvPr/>
        </p:nvSpPr>
        <p:spPr>
          <a:xfrm>
            <a:off x="8915400" y="5276088"/>
            <a:ext cx="2724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A49A"/>
                </a:solidFill>
              </a:rPr>
              <a:t>Qué tanto le sirve a la audiencia de 30X.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A4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915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EEE7"/>
                </a:solidFill>
              </a:rPr>
              <a:t>Por qué funcionó y cómo lo grabamos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555480" y="56692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5A93C"/>
                </a:solidFill>
              </a:rPr>
              <a:t>Impacto en el reto</a:t>
            </a:r>
            <a:endParaRPr lang="en-US" sz="1200" dirty="0"/>
          </a:p>
        </p:txBody>
      </p:sp>
      <p:sp>
        <p:nvSpPr>
          <p:cNvPr id="4" name="ejemplo real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A93C"/>
                </a:solidFill>
              </a:rPr>
              <a:t>Tema #1  </a:t>
            </a:r>
            <a:pPr indent="0" marL="0">
              <a:buNone/>
            </a:pPr>
            <a:r>
              <a:rPr lang="en-US" sz="1600" dirty="0">
                <a:solidFill>
                  <a:srgbClr val="F2EEE7"/>
                </a:solidFill>
              </a:rPr>
              <a:t>Automatización operativa para pymes · 5 piezas esta semana frente a 3 · despegando · JEV 90</a:t>
            </a:r>
            <a:endParaRPr lang="en-US" sz="1600" dirty="0"/>
          </a:p>
        </p:txBody>
      </p:sp>
      <p:pic>
        <p:nvPicPr>
          <p:cNvPr id="5" name="captura 5 variables y JEV" descr="C:\Users\ESTUDIANTE\AppData\Local\Temp\claude\C--Users-ESTUDIANTE-Desktop-EV\43d91faa-828a-4caa-b1cf-f4c72999dfed\scratchpad\pitch\assets\variab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4242099" cy="4160520"/>
          </a:xfrm>
          <a:prstGeom prst="rect">
            <a:avLst/>
          </a:prstGeom>
        </p:spPr>
      </p:pic>
      <p:pic>
        <p:nvPicPr>
          <p:cNvPr id="6" name="captura guion del Reel" descr="C:\Users\ESTUDIANTE\AppData\Local\Temp\claude\C--Users-ESTUDIANTE-Desktop-EV\43d91faa-828a-4caa-b1cf-f4c72999dfed\scratchpad\pitch\assets\guion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059" y="1874520"/>
            <a:ext cx="4294730" cy="4160520"/>
          </a:xfrm>
          <a:prstGeom prst="rect">
            <a:avLst/>
          </a:prstGeom>
        </p:spPr>
      </p:pic>
      <p:sp>
        <p:nvSpPr>
          <p:cNvPr id="7" name="icono 5 variables fondo"/>
          <p:cNvSpPr/>
          <p:nvPr/>
        </p:nvSpPr>
        <p:spPr>
          <a:xfrm>
            <a:off x="9679829" y="1965960"/>
            <a:ext cx="502920" cy="502920"/>
          </a:xfrm>
          <a:prstGeom prst="ellipse">
            <a:avLst/>
          </a:prstGeom>
          <a:solidFill>
            <a:srgbClr val="2B2416"/>
          </a:solidFill>
          <a:ln w="12700">
            <a:solidFill>
              <a:srgbClr val="2B2416"/>
            </a:solidFill>
            <a:prstDash val="solid"/>
          </a:ln>
        </p:spPr>
      </p:sp>
      <p:pic>
        <p:nvPicPr>
          <p:cNvPr id="8" name="icono 5 variables" descr="C:\Users\ESTUDIANTE\AppData\Local\Temp\claude\C--Users-ESTUDIANTE-Desktop-EV\43d91faa-828a-4caa-b1cf-f4c72999dfed\scratchpad\pitch\assets\icon-wh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0472" y="2076602"/>
            <a:ext cx="281635" cy="281635"/>
          </a:xfrm>
          <a:prstGeom prst="rect">
            <a:avLst/>
          </a:prstGeom>
        </p:spPr>
      </p:pic>
      <p:sp>
        <p:nvSpPr>
          <p:cNvPr id="9" name="5 variables título"/>
          <p:cNvSpPr txBox="1"/>
          <p:nvPr/>
        </p:nvSpPr>
        <p:spPr>
          <a:xfrm>
            <a:off x="9679829" y="2606040"/>
            <a:ext cx="19632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EEE7"/>
                </a:solidFill>
              </a:rPr>
              <a:t>5 variables</a:t>
            </a:r>
            <a:endParaRPr lang="en-US" sz="1600" dirty="0"/>
          </a:p>
        </p:txBody>
      </p:sp>
      <p:sp>
        <p:nvSpPr>
          <p:cNvPr id="10" name="5 variables texto"/>
          <p:cNvSpPr txBox="1"/>
          <p:nvPr/>
        </p:nvSpPr>
        <p:spPr>
          <a:xfrm>
            <a:off x="9679829" y="2953512"/>
            <a:ext cx="19632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A49A"/>
                </a:solidFill>
              </a:rPr>
              <a:t>Gancho, formato, tema, momento y autor, con la Matriz JEV ponderada.</a:t>
            </a:r>
            <a:endParaRPr lang="en-US" sz="1300" dirty="0"/>
          </a:p>
        </p:txBody>
      </p:sp>
      <p:sp>
        <p:nvSpPr>
          <p:cNvPr id="11" name="icono Listo para grabar fondo"/>
          <p:cNvSpPr/>
          <p:nvPr/>
        </p:nvSpPr>
        <p:spPr>
          <a:xfrm>
            <a:off x="9679829" y="4069080"/>
            <a:ext cx="502920" cy="502920"/>
          </a:xfrm>
          <a:prstGeom prst="ellipse">
            <a:avLst/>
          </a:prstGeom>
          <a:solidFill>
            <a:srgbClr val="2B2416"/>
          </a:solidFill>
          <a:ln w="12700">
            <a:solidFill>
              <a:srgbClr val="2B2416"/>
            </a:solidFill>
            <a:prstDash val="solid"/>
          </a:ln>
        </p:spPr>
      </p:sp>
      <p:pic>
        <p:nvPicPr>
          <p:cNvPr id="12" name="icono Listo para grabar" descr="C:\Users\ESTUDIANTE\AppData\Local\Temp\claude\C--Users-ESTUDIANTE-Desktop-EV\43d91faa-828a-4caa-b1cf-f4c72999dfed\scratchpad\pitch\assets\icon-z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0472" y="4179722"/>
            <a:ext cx="281635" cy="281635"/>
          </a:xfrm>
          <a:prstGeom prst="rect">
            <a:avLst/>
          </a:prstGeom>
        </p:spPr>
      </p:pic>
      <p:sp>
        <p:nvSpPr>
          <p:cNvPr id="13" name="Listo para grabar título"/>
          <p:cNvSpPr txBox="1"/>
          <p:nvPr/>
        </p:nvSpPr>
        <p:spPr>
          <a:xfrm>
            <a:off x="9679829" y="4709160"/>
            <a:ext cx="19632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EEE7"/>
                </a:solidFill>
              </a:rPr>
              <a:t>Listo para grabar</a:t>
            </a:r>
            <a:endParaRPr lang="en-US" sz="1600" dirty="0"/>
          </a:p>
        </p:txBody>
      </p:sp>
      <p:sp>
        <p:nvSpPr>
          <p:cNvPr id="14" name="Listo para grabar texto"/>
          <p:cNvSpPr txBox="1"/>
          <p:nvPr/>
        </p:nvSpPr>
        <p:spPr>
          <a:xfrm>
            <a:off x="9679829" y="5056632"/>
            <a:ext cx="19632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A49A"/>
                </a:solidFill>
              </a:rPr>
              <a:t>Reel por segundos para @andresbilbao y carrusel para @30x.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A4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915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EEE7"/>
                </a:solidFill>
              </a:rPr>
              <a:t>IA donde aporta, código donde se mide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555480" y="56692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5A93C"/>
                </a:solidFill>
              </a:rPr>
              <a:t>Innovación</a:t>
            </a:r>
            <a:endParaRPr lang="en-US" sz="1200" dirty="0"/>
          </a:p>
        </p:txBody>
      </p:sp>
      <p:sp>
        <p:nvSpPr>
          <p:cNvPr id="4" name="innovación 1"/>
          <p:cNvSpPr/>
          <p:nvPr/>
        </p:nvSpPr>
        <p:spPr>
          <a:xfrm>
            <a:off x="548640" y="1508760"/>
            <a:ext cx="5410048" cy="2121408"/>
          </a:xfrm>
          <a:prstGeom prst="roundRect">
            <a:avLst>
              <a:gd name="adj" fmla="val 6034"/>
            </a:avLst>
          </a:prstGeom>
          <a:solidFill>
            <a:srgbClr val="1D1D21"/>
          </a:solidFill>
          <a:ln w="12700">
            <a:solidFill>
              <a:srgbClr val="2E2E35"/>
            </a:solidFill>
            <a:prstDash val="solid"/>
          </a:ln>
        </p:spPr>
      </p:sp>
      <p:sp>
        <p:nvSpPr>
          <p:cNvPr id="5" name="icono El código mide, la IA interpreta fondo"/>
          <p:cNvSpPr/>
          <p:nvPr/>
        </p:nvSpPr>
        <p:spPr>
          <a:xfrm>
            <a:off x="868680" y="1828800"/>
            <a:ext cx="566928" cy="566928"/>
          </a:xfrm>
          <a:prstGeom prst="ellipse">
            <a:avLst/>
          </a:prstGeom>
          <a:solidFill>
            <a:srgbClr val="2B2416"/>
          </a:solidFill>
          <a:ln w="12700">
            <a:solidFill>
              <a:srgbClr val="2B2416"/>
            </a:solidFill>
            <a:prstDash val="solid"/>
          </a:ln>
        </p:spPr>
      </p:sp>
      <p:pic>
        <p:nvPicPr>
          <p:cNvPr id="6" name="icono El código mide, la IA interpreta" descr="C:\Users\ESTUDIANTE\AppData\Local\Temp\claude\C--Users-ESTUDIANTE-Desktop-EV\43d91faa-828a-4caa-b1cf-f4c72999dfed\scratchpad\pitch\assets\icon-cal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404" y="1953524"/>
            <a:ext cx="317480" cy="317480"/>
          </a:xfrm>
          <a:prstGeom prst="rect">
            <a:avLst/>
          </a:prstGeom>
        </p:spPr>
      </p:pic>
      <p:sp>
        <p:nvSpPr>
          <p:cNvPr id="7" name="El código mide, la IA interpreta título"/>
          <p:cNvSpPr txBox="1"/>
          <p:nvPr/>
        </p:nvSpPr>
        <p:spPr>
          <a:xfrm>
            <a:off x="1645920" y="1892808"/>
            <a:ext cx="403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EEE7"/>
                </a:solidFill>
              </a:rPr>
              <a:t>El código mide, la IA interpreta</a:t>
            </a:r>
            <a:endParaRPr lang="en-US" sz="1900" dirty="0"/>
          </a:p>
        </p:txBody>
      </p:sp>
      <p:sp>
        <p:nvSpPr>
          <p:cNvPr id="8" name="El código mide, la IA interpreta texto"/>
          <p:cNvSpPr txBox="1"/>
          <p:nvPr/>
        </p:nvSpPr>
        <p:spPr>
          <a:xfrm>
            <a:off x="1645920" y="2377440"/>
            <a:ext cx="4038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49A"/>
                </a:solidFill>
              </a:rPr>
              <a:t>Crecimiento, Outlier, etapa y la ponderación del JEV se calculan en código: reproducibles y auditables. Gemini agrupa, explica y escribe con salida estructurada validada.</a:t>
            </a:r>
            <a:endParaRPr lang="en-US" sz="1400" dirty="0"/>
          </a:p>
        </p:txBody>
      </p:sp>
      <p:sp>
        <p:nvSpPr>
          <p:cNvPr id="9" name="innovación 2"/>
          <p:cNvSpPr/>
          <p:nvPr/>
        </p:nvSpPr>
        <p:spPr>
          <a:xfrm>
            <a:off x="6233008" y="1508760"/>
            <a:ext cx="5410048" cy="2121408"/>
          </a:xfrm>
          <a:prstGeom prst="roundRect">
            <a:avLst>
              <a:gd name="adj" fmla="val 6034"/>
            </a:avLst>
          </a:prstGeom>
          <a:solidFill>
            <a:srgbClr val="1D1D21"/>
          </a:solidFill>
          <a:ln w="12700">
            <a:solidFill>
              <a:srgbClr val="2E2E35"/>
            </a:solidFill>
            <a:prstDash val="solid"/>
          </a:ln>
        </p:spPr>
      </p:sp>
      <p:sp>
        <p:nvSpPr>
          <p:cNvPr id="10" name="icono Fecha exacta sin descargar nada fondo"/>
          <p:cNvSpPr/>
          <p:nvPr/>
        </p:nvSpPr>
        <p:spPr>
          <a:xfrm>
            <a:off x="6553048" y="1828800"/>
            <a:ext cx="566928" cy="566928"/>
          </a:xfrm>
          <a:prstGeom prst="ellipse">
            <a:avLst/>
          </a:prstGeom>
          <a:solidFill>
            <a:srgbClr val="2B2416"/>
          </a:solidFill>
          <a:ln w="12700">
            <a:solidFill>
              <a:srgbClr val="2B2416"/>
            </a:solidFill>
            <a:prstDash val="solid"/>
          </a:ln>
        </p:spPr>
      </p:sp>
      <p:pic>
        <p:nvPicPr>
          <p:cNvPr id="11" name="icono Fecha exacta sin descargar nada" descr="C:\Users\ESTUDIANTE\AppData\Local\Temp\claude\C--Users-ESTUDIANTE-Desktop-EV\43d91faa-828a-4caa-b1cf-f4c72999dfed\scratchpad\pitch\assets\icon-fingerpr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7772" y="1953524"/>
            <a:ext cx="317480" cy="317480"/>
          </a:xfrm>
          <a:prstGeom prst="rect">
            <a:avLst/>
          </a:prstGeom>
        </p:spPr>
      </p:pic>
      <p:sp>
        <p:nvSpPr>
          <p:cNvPr id="12" name="Fecha exacta sin descargar nada título"/>
          <p:cNvSpPr txBox="1"/>
          <p:nvPr/>
        </p:nvSpPr>
        <p:spPr>
          <a:xfrm>
            <a:off x="7330288" y="1892808"/>
            <a:ext cx="403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EEE7"/>
                </a:solidFill>
              </a:rPr>
              <a:t>Fecha exacta sin descargar nada</a:t>
            </a:r>
            <a:endParaRPr lang="en-US" sz="1900" dirty="0"/>
          </a:p>
        </p:txBody>
      </p:sp>
      <p:sp>
        <p:nvSpPr>
          <p:cNvPr id="13" name="Fecha exacta sin descargar nada texto"/>
          <p:cNvSpPr txBox="1"/>
          <p:nvPr/>
        </p:nvSpPr>
        <p:spPr>
          <a:xfrm>
            <a:off x="7330288" y="2377440"/>
            <a:ext cx="4038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49A"/>
                </a:solidFill>
              </a:rPr>
              <a:t>Los IDs públicos de LinkedIn, TikTok e Instagram contienen la hora de publicación: la decodificamos de la URL.</a:t>
            </a:r>
            <a:endParaRPr lang="en-US" sz="1400" dirty="0"/>
          </a:p>
        </p:txBody>
      </p:sp>
      <p:sp>
        <p:nvSpPr>
          <p:cNvPr id="14" name="innovación 3"/>
          <p:cNvSpPr/>
          <p:nvPr/>
        </p:nvSpPr>
        <p:spPr>
          <a:xfrm>
            <a:off x="548640" y="3904488"/>
            <a:ext cx="5410048" cy="2121408"/>
          </a:xfrm>
          <a:prstGeom prst="roundRect">
            <a:avLst>
              <a:gd name="adj" fmla="val 6034"/>
            </a:avLst>
          </a:prstGeom>
          <a:solidFill>
            <a:srgbClr val="1D1D21"/>
          </a:solidFill>
          <a:ln w="12700">
            <a:solidFill>
              <a:srgbClr val="2E2E35"/>
            </a:solidFill>
            <a:prstDash val="solid"/>
          </a:ln>
        </p:spPr>
      </p:sp>
      <p:sp>
        <p:nvSpPr>
          <p:cNvPr id="15" name="icono Semana anclada al índice fondo"/>
          <p:cNvSpPr/>
          <p:nvPr/>
        </p:nvSpPr>
        <p:spPr>
          <a:xfrm>
            <a:off x="868680" y="4224528"/>
            <a:ext cx="566928" cy="566928"/>
          </a:xfrm>
          <a:prstGeom prst="ellipse">
            <a:avLst/>
          </a:prstGeom>
          <a:solidFill>
            <a:srgbClr val="2B2416"/>
          </a:solidFill>
          <a:ln w="12700">
            <a:solidFill>
              <a:srgbClr val="2B2416"/>
            </a:solidFill>
            <a:prstDash val="solid"/>
          </a:ln>
        </p:spPr>
      </p:sp>
      <p:pic>
        <p:nvPicPr>
          <p:cNvPr id="16" name="icono Semana anclada al índice" descr="C:\Users\ESTUDIANTE\AppData\Local\Temp\claude\C--Users-ESTUDIANTE-Desktop-EV\43d91faa-828a-4caa-b1cf-f4c72999dfed\scratchpad\pitch\assets\icon-calend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404" y="4349252"/>
            <a:ext cx="317480" cy="317480"/>
          </a:xfrm>
          <a:prstGeom prst="rect">
            <a:avLst/>
          </a:prstGeom>
        </p:spPr>
      </p:pic>
      <p:sp>
        <p:nvSpPr>
          <p:cNvPr id="17" name="Semana anclada al índice título"/>
          <p:cNvSpPr txBox="1"/>
          <p:nvPr/>
        </p:nvSpPr>
        <p:spPr>
          <a:xfrm>
            <a:off x="1645920" y="4288536"/>
            <a:ext cx="403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EEE7"/>
                </a:solidFill>
              </a:rPr>
              <a:t>Semana anclada al índice</a:t>
            </a:r>
            <a:endParaRPr lang="en-US" sz="1900" dirty="0"/>
          </a:p>
        </p:txBody>
      </p:sp>
      <p:sp>
        <p:nvSpPr>
          <p:cNvPr id="18" name="Semana anclada al índice texto"/>
          <p:cNvSpPr txBox="1"/>
          <p:nvPr/>
        </p:nvSpPr>
        <p:spPr>
          <a:xfrm>
            <a:off x="1645920" y="4773168"/>
            <a:ext cx="4038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49A"/>
                </a:solidFill>
              </a:rPr>
              <a:t>Los buscadores tardan días en indexar LinkedIn. Medimos la última semana que el índice ya cubre, y lo decimos en pantalla.</a:t>
            </a:r>
            <a:endParaRPr lang="en-US" sz="1400" dirty="0"/>
          </a:p>
        </p:txBody>
      </p:sp>
      <p:sp>
        <p:nvSpPr>
          <p:cNvPr id="19" name="innovación 4"/>
          <p:cNvSpPr/>
          <p:nvPr/>
        </p:nvSpPr>
        <p:spPr>
          <a:xfrm>
            <a:off x="6233008" y="3904488"/>
            <a:ext cx="5410048" cy="2121408"/>
          </a:xfrm>
          <a:prstGeom prst="roundRect">
            <a:avLst>
              <a:gd name="adj" fmla="val 6034"/>
            </a:avLst>
          </a:prstGeom>
          <a:solidFill>
            <a:srgbClr val="1D1D21"/>
          </a:solidFill>
          <a:ln w="12700">
            <a:solidFill>
              <a:srgbClr val="2E2E35"/>
            </a:solidFill>
            <a:prstDash val="solid"/>
          </a:ln>
        </p:spPr>
      </p:sp>
      <p:sp>
        <p:nvSpPr>
          <p:cNvPr id="20" name="icono Detección temprana bilingüe fondo"/>
          <p:cNvSpPr/>
          <p:nvPr/>
        </p:nvSpPr>
        <p:spPr>
          <a:xfrm>
            <a:off x="6553048" y="4224528"/>
            <a:ext cx="566928" cy="566928"/>
          </a:xfrm>
          <a:prstGeom prst="ellipse">
            <a:avLst/>
          </a:prstGeom>
          <a:solidFill>
            <a:srgbClr val="2B2416"/>
          </a:solidFill>
          <a:ln w="12700">
            <a:solidFill>
              <a:srgbClr val="2B2416"/>
            </a:solidFill>
            <a:prstDash val="solid"/>
          </a:ln>
        </p:spPr>
      </p:sp>
      <p:pic>
        <p:nvPicPr>
          <p:cNvPr id="21" name="icono Detección temprana bilingüe" descr="C:\Users\ESTUDIANTE\AppData\Local\Temp\claude\C--Users-ESTUDIANTE-Desktop-EV\43d91faa-828a-4caa-b1cf-f4c72999dfed\scratchpad\pitch\assets\icon-languag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7772" y="4349252"/>
            <a:ext cx="317480" cy="317480"/>
          </a:xfrm>
          <a:prstGeom prst="rect">
            <a:avLst/>
          </a:prstGeom>
        </p:spPr>
      </p:pic>
      <p:sp>
        <p:nvSpPr>
          <p:cNvPr id="22" name="Detección temprana bilingüe título"/>
          <p:cNvSpPr txBox="1"/>
          <p:nvPr/>
        </p:nvSpPr>
        <p:spPr>
          <a:xfrm>
            <a:off x="7330288" y="4288536"/>
            <a:ext cx="403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EEE7"/>
                </a:solidFill>
              </a:rPr>
              <a:t>Detección temprana bilingüe</a:t>
            </a:r>
            <a:endParaRPr lang="en-US" sz="1900" dirty="0"/>
          </a:p>
        </p:txBody>
      </p:sp>
      <p:sp>
        <p:nvSpPr>
          <p:cNvPr id="23" name="Detección temprana bilingüe texto"/>
          <p:cNvSpPr txBox="1"/>
          <p:nvPr/>
        </p:nvSpPr>
        <p:spPr>
          <a:xfrm>
            <a:off x="7330288" y="4773168"/>
            <a:ext cx="4038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49A"/>
                </a:solidFill>
              </a:rPr>
              <a:t>Emergente = acelera en inglés y casi no existe en español: la ventana para que 30X llegue primero.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A4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915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EEE7"/>
                </a:solidFill>
              </a:rPr>
              <a:t>Funciona de verdad y el código lo respalda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555480" y="56692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5A93C"/>
                </a:solidFill>
              </a:rPr>
              <a:t>Viabilidad técnica</a:t>
            </a:r>
            <a:endParaRPr lang="en-US" sz="1200" dirty="0"/>
          </a:p>
        </p:txBody>
      </p:sp>
      <p:sp>
        <p:nvSpPr>
          <p:cNvPr id="4" name="cifra 1"/>
          <p:cNvSpPr txBox="1"/>
          <p:nvPr/>
        </p:nvSpPr>
        <p:spPr>
          <a:xfrm>
            <a:off x="548640" y="1600200"/>
            <a:ext cx="2567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E5A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400+</a:t>
            </a:r>
            <a:endParaRPr lang="en-US" sz="6000" dirty="0"/>
          </a:p>
        </p:txBody>
      </p:sp>
      <p:sp>
        <p:nvSpPr>
          <p:cNvPr id="5" name="cifra 1 etiqueta"/>
          <p:cNvSpPr txBox="1"/>
          <p:nvPr/>
        </p:nvSpPr>
        <p:spPr>
          <a:xfrm>
            <a:off x="548640" y="2606040"/>
            <a:ext cx="238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EEE7"/>
                </a:solidFill>
              </a:rPr>
              <a:t>piezas reales analizadas en 4 redes</a:t>
            </a:r>
            <a:endParaRPr lang="en-US" sz="1500" dirty="0"/>
          </a:p>
        </p:txBody>
      </p:sp>
      <p:sp>
        <p:nvSpPr>
          <p:cNvPr id="6" name="cifra 2"/>
          <p:cNvSpPr txBox="1"/>
          <p:nvPr/>
        </p:nvSpPr>
        <p:spPr>
          <a:xfrm>
            <a:off x="3390824" y="1600200"/>
            <a:ext cx="2567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E5A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0" dirty="0"/>
          </a:p>
        </p:txBody>
      </p:sp>
      <p:sp>
        <p:nvSpPr>
          <p:cNvPr id="7" name="cifra 2 etiqueta"/>
          <p:cNvSpPr txBox="1"/>
          <p:nvPr/>
        </p:nvSpPr>
        <p:spPr>
          <a:xfrm>
            <a:off x="3390824" y="2606040"/>
            <a:ext cx="238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EEE7"/>
                </a:solidFill>
              </a:rPr>
              <a:t>solicitudes de IA por radar (análisis en lote)</a:t>
            </a:r>
            <a:endParaRPr lang="en-US" sz="1500" dirty="0"/>
          </a:p>
        </p:txBody>
      </p:sp>
      <p:sp>
        <p:nvSpPr>
          <p:cNvPr id="8" name="cifra 3"/>
          <p:cNvSpPr txBox="1"/>
          <p:nvPr/>
        </p:nvSpPr>
        <p:spPr>
          <a:xfrm>
            <a:off x="6233008" y="1600200"/>
            <a:ext cx="2567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E5A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0" dirty="0"/>
          </a:p>
        </p:txBody>
      </p:sp>
      <p:sp>
        <p:nvSpPr>
          <p:cNvPr id="9" name="cifra 3 etiqueta"/>
          <p:cNvSpPr txBox="1"/>
          <p:nvPr/>
        </p:nvSpPr>
        <p:spPr>
          <a:xfrm>
            <a:off x="6233008" y="2606040"/>
            <a:ext cx="238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EEE7"/>
                </a:solidFill>
              </a:rPr>
              <a:t>migraciones validadas en PostgreSQL 17</a:t>
            </a:r>
            <a:endParaRPr lang="en-US" sz="1500" dirty="0"/>
          </a:p>
        </p:txBody>
      </p:sp>
      <p:sp>
        <p:nvSpPr>
          <p:cNvPr id="10" name="cifra 4"/>
          <p:cNvSpPr txBox="1"/>
          <p:nvPr/>
        </p:nvSpPr>
        <p:spPr>
          <a:xfrm>
            <a:off x="9075191" y="1600200"/>
            <a:ext cx="2567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E5A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000" dirty="0"/>
          </a:p>
        </p:txBody>
      </p:sp>
      <p:sp>
        <p:nvSpPr>
          <p:cNvPr id="11" name="cifra 4 etiqueta"/>
          <p:cNvSpPr txBox="1"/>
          <p:nvPr/>
        </p:nvSpPr>
        <p:spPr>
          <a:xfrm>
            <a:off x="9075191" y="2606040"/>
            <a:ext cx="238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EEE7"/>
                </a:solidFill>
              </a:rPr>
              <a:t>vulnerabilidades en dependencias</a:t>
            </a:r>
            <a:endParaRPr lang="en-US" sz="1500" dirty="0"/>
          </a:p>
        </p:txBody>
      </p:sp>
      <p:sp>
        <p:nvSpPr>
          <p:cNvPr id="12" name="verificación"/>
          <p:cNvSpPr/>
          <p:nvPr/>
        </p:nvSpPr>
        <p:spPr>
          <a:xfrm>
            <a:off x="548640" y="3703320"/>
            <a:ext cx="11094415" cy="2240280"/>
          </a:xfrm>
          <a:prstGeom prst="roundRect">
            <a:avLst>
              <a:gd name="adj" fmla="val 5714"/>
            </a:avLst>
          </a:prstGeom>
          <a:solidFill>
            <a:srgbClr val="1D1D21"/>
          </a:solidFill>
          <a:ln w="12700">
            <a:solidFill>
              <a:srgbClr val="2E2E35"/>
            </a:solidFill>
            <a:prstDash val="solid"/>
          </a:ln>
        </p:spPr>
      </p:sp>
      <p:sp>
        <p:nvSpPr>
          <p:cNvPr id="13" name="comando"/>
          <p:cNvSpPr txBox="1"/>
          <p:nvPr/>
        </p:nvSpPr>
        <p:spPr>
          <a:xfrm>
            <a:off x="91440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A9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check</a:t>
            </a:r>
            <a:endParaRPr lang="en-US" sz="1600" dirty="0"/>
          </a:p>
        </p:txBody>
      </p:sp>
      <p:sp>
        <p:nvSpPr>
          <p:cNvPr id="14" name="paso 1"/>
          <p:cNvSpPr/>
          <p:nvPr/>
        </p:nvSpPr>
        <p:spPr>
          <a:xfrm>
            <a:off x="914400" y="4462272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26262C"/>
          </a:solidFill>
          <a:ln w="12700">
            <a:solidFill>
              <a:srgbClr val="2E2E35"/>
            </a:solidFill>
            <a:prstDash val="solid"/>
          </a:ln>
        </p:spPr>
      </p:sp>
      <p:sp>
        <p:nvSpPr>
          <p:cNvPr id="15" name="paso 1 texto"/>
          <p:cNvSpPr txBox="1"/>
          <p:nvPr/>
        </p:nvSpPr>
        <p:spPr>
          <a:xfrm>
            <a:off x="1051560" y="44622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EEE7"/>
                </a:solidFill>
              </a:rPr>
              <a:t>TypeScript estricto</a:t>
            </a:r>
            <a:endParaRPr lang="en-US" sz="1400" dirty="0"/>
          </a:p>
        </p:txBody>
      </p:sp>
      <p:sp>
        <p:nvSpPr>
          <p:cNvPr id="16" name="flecha 1"/>
          <p:cNvSpPr txBox="1"/>
          <p:nvPr/>
        </p:nvSpPr>
        <p:spPr>
          <a:xfrm>
            <a:off x="3291840" y="4462272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5A93C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paso 2"/>
          <p:cNvSpPr/>
          <p:nvPr/>
        </p:nvSpPr>
        <p:spPr>
          <a:xfrm>
            <a:off x="3703320" y="4462272"/>
            <a:ext cx="4937760" cy="566928"/>
          </a:xfrm>
          <a:prstGeom prst="roundRect">
            <a:avLst>
              <a:gd name="adj" fmla="val 16129"/>
            </a:avLst>
          </a:prstGeom>
          <a:solidFill>
            <a:srgbClr val="26262C"/>
          </a:solidFill>
          <a:ln w="12700">
            <a:solidFill>
              <a:srgbClr val="2E2E35"/>
            </a:solidFill>
            <a:prstDash val="solid"/>
          </a:ln>
        </p:spPr>
      </p:sp>
      <p:sp>
        <p:nvSpPr>
          <p:cNvPr id="18" name="paso 2 texto"/>
          <p:cNvSpPr txBox="1"/>
          <p:nvPr/>
        </p:nvSpPr>
        <p:spPr>
          <a:xfrm>
            <a:off x="3840480" y="446227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EEE7"/>
                </a:solidFill>
              </a:rPr>
              <a:t>Prueba de humo: crecimiento, privacidad, perfiles, filtros y cumplimiento</a:t>
            </a:r>
            <a:endParaRPr lang="en-US" sz="1400" dirty="0"/>
          </a:p>
        </p:txBody>
      </p:sp>
      <p:sp>
        <p:nvSpPr>
          <p:cNvPr id="19" name="flecha 2"/>
          <p:cNvSpPr txBox="1"/>
          <p:nvPr/>
        </p:nvSpPr>
        <p:spPr>
          <a:xfrm>
            <a:off x="8641080" y="4462272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5A93C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paso 3"/>
          <p:cNvSpPr/>
          <p:nvPr/>
        </p:nvSpPr>
        <p:spPr>
          <a:xfrm>
            <a:off x="9052560" y="4462272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26262C"/>
          </a:solidFill>
          <a:ln w="12700">
            <a:solidFill>
              <a:srgbClr val="2E2E35"/>
            </a:solidFill>
            <a:prstDash val="solid"/>
          </a:ln>
        </p:spPr>
      </p:sp>
      <p:sp>
        <p:nvSpPr>
          <p:cNvPr id="21" name="paso 3 texto"/>
          <p:cNvSpPr txBox="1"/>
          <p:nvPr/>
        </p:nvSpPr>
        <p:spPr>
          <a:xfrm>
            <a:off x="9189720" y="44622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EEE7"/>
                </a:solidFill>
              </a:rPr>
              <a:t>Build de producción</a:t>
            </a:r>
            <a:endParaRPr lang="en-US" sz="1400" dirty="0"/>
          </a:p>
        </p:txBody>
      </p:sp>
      <p:sp>
        <p:nvSpPr>
          <p:cNvPr id="22" name="resiliencia"/>
          <p:cNvSpPr txBox="1"/>
          <p:nvPr/>
        </p:nvSpPr>
        <p:spPr>
          <a:xfrm>
            <a:off x="914400" y="525780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49A"/>
                </a:solidFill>
              </a:rPr>
              <a:t>Resiliente: reintenta si la IA se satura, explica la cuota agotada con su hora de renovación y conserva la autopsia si fallan los guiones.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A4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915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EEE7"/>
                </a:solidFill>
              </a:rPr>
              <a:t>30X puede adoptarlo mañana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555480" y="56692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5A93C"/>
                </a:solidFill>
              </a:rPr>
              <a:t>Viabilidad de implementación</a:t>
            </a:r>
            <a:endParaRPr lang="en-US" sz="1200" dirty="0"/>
          </a:p>
        </p:txBody>
      </p:sp>
      <p:sp>
        <p:nvSpPr>
          <p:cNvPr id="4" name="icono Cabe en planes gratuitos fondo"/>
          <p:cNvSpPr/>
          <p:nvPr/>
        </p:nvSpPr>
        <p:spPr>
          <a:xfrm>
            <a:off x="548640" y="1554480"/>
            <a:ext cx="548640" cy="548640"/>
          </a:xfrm>
          <a:prstGeom prst="ellipse">
            <a:avLst/>
          </a:prstGeom>
          <a:solidFill>
            <a:srgbClr val="2B2416"/>
          </a:solidFill>
          <a:ln w="12700">
            <a:solidFill>
              <a:srgbClr val="2B2416"/>
            </a:solidFill>
            <a:prstDash val="solid"/>
          </a:ln>
        </p:spPr>
      </p:sp>
      <p:pic>
        <p:nvPicPr>
          <p:cNvPr id="5" name="icono Cabe en planes gratuitos" descr="C:\Users\ESTUDIANTE\AppData\Local\Temp\claude\C--Users-ESTUDIANTE-Desktop-EV\43d91faa-828a-4caa-b1cf-f4c72999dfed\scratchpad\pitch\assets\icon-wal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675181"/>
            <a:ext cx="307238" cy="307238"/>
          </a:xfrm>
          <a:prstGeom prst="rect">
            <a:avLst/>
          </a:prstGeom>
        </p:spPr>
      </p:pic>
      <p:sp>
        <p:nvSpPr>
          <p:cNvPr id="6" name="Cabe en planes gratuitos título"/>
          <p:cNvSpPr txBox="1"/>
          <p:nvPr/>
        </p:nvSpPr>
        <p:spPr>
          <a:xfrm>
            <a:off x="1325880" y="153619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EEE7"/>
                </a:solidFill>
              </a:rPr>
              <a:t>Cabe en planes gratuitos</a:t>
            </a:r>
            <a:endParaRPr lang="en-US" sz="1700" dirty="0"/>
          </a:p>
        </p:txBody>
      </p:sp>
      <p:sp>
        <p:nvSpPr>
          <p:cNvPr id="7" name="Cabe en planes gratuitos texto"/>
          <p:cNvSpPr txBox="1"/>
          <p:nvPr/>
        </p:nvSpPr>
        <p:spPr>
          <a:xfrm>
            <a:off x="1325880" y="190195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49A"/>
                </a:solidFill>
              </a:rPr>
              <a:t>Un radar usa 3 solicitudes de IA y ~8 % de la cuota diaria de YouTube.</a:t>
            </a:r>
            <a:endParaRPr lang="en-US" sz="1400" dirty="0"/>
          </a:p>
        </p:txBody>
      </p:sp>
      <p:sp>
        <p:nvSpPr>
          <p:cNvPr id="8" name="icono 100 % legal fondo"/>
          <p:cNvSpPr/>
          <p:nvPr/>
        </p:nvSpPr>
        <p:spPr>
          <a:xfrm>
            <a:off x="548640" y="2633472"/>
            <a:ext cx="548640" cy="548640"/>
          </a:xfrm>
          <a:prstGeom prst="ellipse">
            <a:avLst/>
          </a:prstGeom>
          <a:solidFill>
            <a:srgbClr val="2B2416"/>
          </a:solidFill>
          <a:ln w="12700">
            <a:solidFill>
              <a:srgbClr val="2B2416"/>
            </a:solidFill>
            <a:prstDash val="solid"/>
          </a:ln>
        </p:spPr>
      </p:sp>
      <p:pic>
        <p:nvPicPr>
          <p:cNvPr id="9" name="icono 100 % legal" descr="C:\Users\ESTUDIANTE\AppData\Local\Temp\claude\C--Users-ESTUDIANTE-Desktop-EV\43d91faa-828a-4caa-b1cf-f4c72999dfed\scratchpad\pitch\assets\icon-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2754173"/>
            <a:ext cx="307238" cy="307238"/>
          </a:xfrm>
          <a:prstGeom prst="rect">
            <a:avLst/>
          </a:prstGeom>
        </p:spPr>
      </p:pic>
      <p:sp>
        <p:nvSpPr>
          <p:cNvPr id="10" name="100 % legal título"/>
          <p:cNvSpPr txBox="1"/>
          <p:nvPr/>
        </p:nvSpPr>
        <p:spPr>
          <a:xfrm>
            <a:off x="1325880" y="261518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EEE7"/>
                </a:solidFill>
              </a:rPr>
              <a:t>100 % legal</a:t>
            </a:r>
            <a:endParaRPr lang="en-US" sz="1700" dirty="0"/>
          </a:p>
        </p:txBody>
      </p:sp>
      <p:sp>
        <p:nvSpPr>
          <p:cNvPr id="11" name="100 % legal texto"/>
          <p:cNvSpPr txBox="1"/>
          <p:nvPr/>
        </p:nvSpPr>
        <p:spPr>
          <a:xfrm>
            <a:off x="1325880" y="298094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49A"/>
                </a:solidFill>
              </a:rPr>
              <a:t>APIs oficiales, índices de búsqueda, oEmbed y la comunidad. Sin logins, cookies ni scraping.</a:t>
            </a:r>
            <a:endParaRPr lang="en-US" sz="1400" dirty="0"/>
          </a:p>
        </p:txBody>
      </p:sp>
      <p:sp>
        <p:nvSpPr>
          <p:cNvPr id="12" name="icono Cero datos personales fondo"/>
          <p:cNvSpPr/>
          <p:nvPr/>
        </p:nvSpPr>
        <p:spPr>
          <a:xfrm>
            <a:off x="548640" y="3712464"/>
            <a:ext cx="548640" cy="548640"/>
          </a:xfrm>
          <a:prstGeom prst="ellipse">
            <a:avLst/>
          </a:prstGeom>
          <a:solidFill>
            <a:srgbClr val="2B2416"/>
          </a:solidFill>
          <a:ln w="12700">
            <a:solidFill>
              <a:srgbClr val="2B2416"/>
            </a:solidFill>
            <a:prstDash val="solid"/>
          </a:ln>
        </p:spPr>
      </p:sp>
      <p:pic>
        <p:nvPicPr>
          <p:cNvPr id="13" name="icono Cero datos personales" descr="C:\Users\ESTUDIANTE\AppData\Local\Temp\claude\C--Users-ESTUDIANTE-Desktop-EV\43d91faa-828a-4caa-b1cf-f4c72999dfed\scratchpad\pitch\assets\icon-eyeo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3833165"/>
            <a:ext cx="307238" cy="307238"/>
          </a:xfrm>
          <a:prstGeom prst="rect">
            <a:avLst/>
          </a:prstGeom>
        </p:spPr>
      </p:pic>
      <p:sp>
        <p:nvSpPr>
          <p:cNvPr id="14" name="Cero datos personales título"/>
          <p:cNvSpPr txBox="1"/>
          <p:nvPr/>
        </p:nvSpPr>
        <p:spPr>
          <a:xfrm>
            <a:off x="1325880" y="369417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EEE7"/>
                </a:solidFill>
              </a:rPr>
              <a:t>Cero datos personales</a:t>
            </a:r>
            <a:endParaRPr lang="en-US" sz="1700" dirty="0"/>
          </a:p>
        </p:txBody>
      </p:sp>
      <p:sp>
        <p:nvSpPr>
          <p:cNvPr id="15" name="Cero datos personales texto"/>
          <p:cNvSpPr txBox="1"/>
          <p:nvPr/>
        </p:nvSpPr>
        <p:spPr>
          <a:xfrm>
            <a:off x="1325880" y="405993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49A"/>
                </a:solidFill>
              </a:rPr>
              <a:t>Analiza piezas, no personas: sin nombres, handles, correos ni miniaturas.</a:t>
            </a:r>
            <a:endParaRPr lang="en-US" sz="1400" dirty="0"/>
          </a:p>
        </p:txBody>
      </p:sp>
      <p:sp>
        <p:nvSpPr>
          <p:cNvPr id="16" name="icono Plug &amp; Play fondo"/>
          <p:cNvSpPr/>
          <p:nvPr/>
        </p:nvSpPr>
        <p:spPr>
          <a:xfrm>
            <a:off x="548640" y="4791456"/>
            <a:ext cx="548640" cy="548640"/>
          </a:xfrm>
          <a:prstGeom prst="ellipse">
            <a:avLst/>
          </a:prstGeom>
          <a:solidFill>
            <a:srgbClr val="2B2416"/>
          </a:solidFill>
          <a:ln w="12700">
            <a:solidFill>
              <a:srgbClr val="2B2416"/>
            </a:solidFill>
            <a:prstDash val="solid"/>
          </a:ln>
        </p:spPr>
      </p:sp>
      <p:pic>
        <p:nvPicPr>
          <p:cNvPr id="17" name="icono Plug &amp; Play" descr="C:\Users\ESTUDIANTE\AppData\Local\Temp\claude\C--Users-ESTUDIANTE-Desktop-EV\43d91faa-828a-4caa-b1cf-f4c72999dfed\scratchpad\pitch\assets\icon-plu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4912157"/>
            <a:ext cx="307238" cy="307238"/>
          </a:xfrm>
          <a:prstGeom prst="rect">
            <a:avLst/>
          </a:prstGeom>
        </p:spPr>
      </p:pic>
      <p:sp>
        <p:nvSpPr>
          <p:cNvPr id="18" name="Plug &amp;amp; Play título"/>
          <p:cNvSpPr txBox="1"/>
          <p:nvPr/>
        </p:nvSpPr>
        <p:spPr>
          <a:xfrm>
            <a:off x="1325880" y="47731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EEE7"/>
                </a:solidFill>
              </a:rPr>
              <a:t>Plug &amp; Play</a:t>
            </a:r>
            <a:endParaRPr lang="en-US" sz="1700" dirty="0"/>
          </a:p>
        </p:txBody>
      </p:sp>
      <p:sp>
        <p:nvSpPr>
          <p:cNvPr id="19" name="Plug &amp;amp; Play texto"/>
          <p:cNvSpPr txBox="1"/>
          <p:nvPr/>
        </p:nvSpPr>
        <p:spPr>
          <a:xfrm>
            <a:off x="1325880" y="513892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AA49A"/>
                </a:solidFill>
              </a:rPr>
              <a:t>Slack, Notion y Make en un clic; Supabase en la nube cambiando variables.</a:t>
            </a:r>
            <a:endParaRPr lang="en-US" sz="1400" dirty="0"/>
          </a:p>
        </p:txBody>
      </p:sp>
      <p:pic>
        <p:nvPicPr>
          <p:cNvPr id="20" name="captura perfiles de marca" descr="C:\Users\ESTUDIANTE\AppData\Local\Temp\claude\C--Users-ESTUDIANTE-Desktop-EV\43d91faa-828a-4caa-b1cf-f4c72999dfed\scratchpad\pitch\assets\perfil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9575" y="1554480"/>
            <a:ext cx="4983480" cy="3006792"/>
          </a:xfrm>
          <a:prstGeom prst="rect">
            <a:avLst/>
          </a:prstGeom>
        </p:spPr>
      </p:pic>
      <p:sp>
        <p:nvSpPr>
          <p:cNvPr id="21" name="icono perfiles fondo"/>
          <p:cNvSpPr/>
          <p:nvPr/>
        </p:nvSpPr>
        <p:spPr>
          <a:xfrm>
            <a:off x="6659575" y="4881312"/>
            <a:ext cx="502920" cy="502920"/>
          </a:xfrm>
          <a:prstGeom prst="ellipse">
            <a:avLst/>
          </a:prstGeom>
          <a:solidFill>
            <a:srgbClr val="2B2416"/>
          </a:solidFill>
          <a:ln w="12700">
            <a:solidFill>
              <a:srgbClr val="2B2416"/>
            </a:solidFill>
            <a:prstDash val="solid"/>
          </a:ln>
        </p:spPr>
      </p:sp>
      <p:pic>
        <p:nvPicPr>
          <p:cNvPr id="22" name="icono perfiles" descr="C:\Users\ESTUDIANTE\AppData\Local\Temp\claude\C--Users-ESTUDIANTE-Desktop-EV\43d91faa-828a-4caa-b1cf-f4c72999dfed\scratchpad\pitch\assets\icon-lay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0218" y="4991955"/>
            <a:ext cx="281635" cy="281635"/>
          </a:xfrm>
          <a:prstGeom prst="rect">
            <a:avLst/>
          </a:prstGeom>
        </p:spPr>
      </p:pic>
      <p:sp>
        <p:nvSpPr>
          <p:cNvPr id="23" name="perfiles texto"/>
          <p:cNvSpPr txBox="1"/>
          <p:nvPr/>
        </p:nvSpPr>
        <p:spPr>
          <a:xfrm>
            <a:off x="7345375" y="4835592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EEE7"/>
                </a:solidFill>
              </a:rPr>
              <a:t>Perfiles de marca. </a:t>
            </a:r>
            <a:pPr indent="0" marL="0">
              <a:buNone/>
            </a:pPr>
            <a:r>
              <a:rPr lang="en-US" sz="1400" dirty="0">
                <a:solidFill>
                  <a:srgbClr val="AAA49A"/>
                </a:solidFill>
              </a:rPr>
              <a:t>Hecho para 30X, útil para cualquier marca, medio o creador: audiencia, voces, ADN y semillas por perfil.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A4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813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2EEE7"/>
                </a:solidFill>
              </a:rPr>
              <a:t>No le entregamos a 30X un tablero. Le entregamos el lunes resuelto.</a:t>
            </a:r>
            <a:endParaRPr lang="en-US" sz="3800" dirty="0"/>
          </a:p>
        </p:txBody>
      </p:sp>
      <p:sp>
        <p:nvSpPr>
          <p:cNvPr id="3" name="resumen"/>
          <p:cNvSpPr txBox="1"/>
          <p:nvPr/>
        </p:nvSpPr>
        <p:spPr>
          <a:xfrm>
            <a:off x="548640" y="342900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AA49A"/>
                </a:solidFill>
              </a:rPr>
              <a:t>Qué tema crece, por qué funciona, si le sirve a su audiencia y el guion listo para grabar. En una pantalla y con fuentes legales.</a:t>
            </a:r>
            <a:endParaRPr lang="en-US" sz="1800" dirty="0"/>
          </a:p>
        </p:txBody>
      </p:sp>
      <p:sp>
        <p:nvSpPr>
          <p:cNvPr id="4" name="próximos pasos"/>
          <p:cNvSpPr txBox="1"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A93C"/>
                </a:solidFill>
              </a:rPr>
              <a:t>Próximos pasos</a:t>
            </a:r>
            <a:endParaRPr lang="en-US" sz="1600" dirty="0"/>
          </a:p>
        </p:txBody>
      </p:sp>
      <p:sp>
        <p:nvSpPr>
          <p:cNvPr id="5" name="paso 1"/>
          <p:cNvSpPr txBox="1"/>
          <p:nvPr/>
        </p:nvSpPr>
        <p:spPr>
          <a:xfrm>
            <a:off x="548640" y="49560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A93C"/>
                </a:solidFill>
              </a:rPr>
              <a:t>1  </a:t>
            </a:r>
            <a:pPr indent="0" marL="0">
              <a:buNone/>
            </a:pPr>
            <a:r>
              <a:rPr lang="en-US" sz="1500" dirty="0">
                <a:solidFill>
                  <a:srgbClr val="F2EEE7"/>
                </a:solidFill>
              </a:rPr>
              <a:t>Calibrar el ADN con los perfiles reales de @30x y @andresbilbao</a:t>
            </a:r>
            <a:endParaRPr lang="en-US" sz="1500" dirty="0"/>
          </a:p>
        </p:txBody>
      </p:sp>
      <p:sp>
        <p:nvSpPr>
          <p:cNvPr id="6" name="paso 2"/>
          <p:cNvSpPr txBox="1"/>
          <p:nvPr/>
        </p:nvSpPr>
        <p:spPr>
          <a:xfrm>
            <a:off x="548640" y="536752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A93C"/>
                </a:solidFill>
              </a:rPr>
              <a:t>2  </a:t>
            </a:r>
            <a:pPr indent="0" marL="0">
              <a:buNone/>
            </a:pPr>
            <a:r>
              <a:rPr lang="en-US" sz="1500" dirty="0">
                <a:solidFill>
                  <a:srgbClr val="F2EEE7"/>
                </a:solidFill>
              </a:rPr>
              <a:t>Conectar la base de contenidos de Notion del equipo</a:t>
            </a:r>
            <a:endParaRPr lang="en-US" sz="1500" dirty="0"/>
          </a:p>
        </p:txBody>
      </p:sp>
      <p:sp>
        <p:nvSpPr>
          <p:cNvPr id="7" name="paso 3"/>
          <p:cNvSpPr txBox="1"/>
          <p:nvPr/>
        </p:nvSpPr>
        <p:spPr>
          <a:xfrm>
            <a:off x="548640" y="577900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A93C"/>
                </a:solidFill>
              </a:rPr>
              <a:t>3  </a:t>
            </a:r>
            <a:pPr indent="0" marL="0">
              <a:buNone/>
            </a:pPr>
            <a:r>
              <a:rPr lang="en-US" sz="1500" dirty="0">
                <a:solidFill>
                  <a:srgbClr val="F2EEE7"/>
                </a:solidFill>
              </a:rPr>
              <a:t>Publicar con código de acceso y un radar semanal programado</a:t>
            </a:r>
            <a:endParaRPr lang="en-US" sz="1500" dirty="0"/>
          </a:p>
        </p:txBody>
      </p:sp>
      <p:sp>
        <p:nvSpPr>
          <p:cNvPr id="8" name="logo radar grande fondo"/>
          <p:cNvSpPr/>
          <p:nvPr/>
        </p:nvSpPr>
        <p:spPr>
          <a:xfrm>
            <a:off x="9006840" y="1737360"/>
            <a:ext cx="2377440" cy="2377440"/>
          </a:xfrm>
          <a:prstGeom prst="ellipse">
            <a:avLst/>
          </a:prstGeom>
          <a:solidFill>
            <a:srgbClr val="2B2416"/>
          </a:solidFill>
          <a:ln w="12700">
            <a:solidFill>
              <a:srgbClr val="2B2416"/>
            </a:solidFill>
            <a:prstDash val="solid"/>
          </a:ln>
        </p:spPr>
      </p:sp>
      <p:pic>
        <p:nvPicPr>
          <p:cNvPr id="9" name="logo radar grande" descr="C:\Users\ESTUDIANTE\AppData\Local\Temp\claude\C--Users-ESTUDIANTE-Desktop-EV\43d91faa-828a-4caa-b1cf-f4c72999dfed\scratchpad\pitch\assets\icon-ra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9877" y="2260397"/>
            <a:ext cx="1331366" cy="13313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30X Radar">
  <a:themeElements>
    <a:clrScheme name="30X Radar">
      <a:dk1>
        <a:srgbClr val="141416"/>
      </a:dk1>
      <a:lt1>
        <a:srgbClr val="F2EEE7"/>
      </a:lt1>
      <a:dk2>
        <a:srgbClr val="1D1D21"/>
      </a:dk2>
      <a:lt2>
        <a:srgbClr val="AAA49A"/>
      </a:lt2>
      <a:accent1>
        <a:srgbClr val="E5A93C"/>
      </a:accent1>
      <a:accent2>
        <a:srgbClr val="93BD83"/>
      </a:accent2>
      <a:accent3>
        <a:srgbClr val="F0BD5F"/>
      </a:accent3>
      <a:accent4>
        <a:srgbClr val="34343B"/>
      </a:accent4>
      <a:accent5>
        <a:srgbClr val="24242A"/>
      </a:accent5>
      <a:accent6>
        <a:srgbClr val="EC8A72"/>
      </a:accent6>
      <a:hlink>
        <a:srgbClr val="E5A93C"/>
      </a:hlink>
      <a:folHlink>
        <a:srgbClr val="F0BD5F"/>
      </a:folHlink>
    </a:clrScheme>
    <a:fontScheme name="30X Rada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30X Radar de tendencias — Pitch</dc:title>
  <dc:subject>PptxGenJS Presentation</dc:subject>
  <dc:creator>Equipo 30X Radar</dc:creator>
  <cp:lastModifiedBy>Equipo 30X Radar</cp:lastModifiedBy>
  <cp:revision>1</cp:revision>
  <dcterms:created xsi:type="dcterms:W3CDTF">2026-10-18T08:17:15Z</dcterms:created>
  <dcterms:modified xsi:type="dcterms:W3CDTF">2026-10-18T08:17:15Z</dcterms:modified>
</cp:coreProperties>
</file>